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omfortaa Bold" panose="020B0604020202020204" charset="0"/>
      <p:regular r:id="rId9"/>
    </p:embeddedFont>
    <p:embeddedFont>
      <p:font typeface="Golos Text" panose="020B0604020202020204" charset="0"/>
      <p:regular r:id="rId10"/>
    </p:embeddedFont>
    <p:embeddedFont>
      <p:font typeface="Golos Text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69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dish as a personal favourite. Say that it gives us a simple way to enter Azerbaijani food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three tiles to show that cuisine is more than a list of ingredients. It also reflects place, agriculture and social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centre of the visual: Azerbaijan sits between Europe and Asia. Then connect the wider influences to local agriculture, seasonal products and family recipes.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word first, then show how broad the dish family is. Dolma may use leaves, vegetables or fruit, with different fillings.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name as a memorable image: three vegetables sharing one dish. Point out that the filling can vary, but the vegetables cook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through the four stages from left to right. Emphasize that slow cooking brings the vegetables and filling together, while families may change the exact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3F1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3F1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8654" y="1043980"/>
            <a:ext cx="5714758" cy="4218781"/>
          </a:xfrm>
          <a:prstGeom prst="roundRect">
            <a:avLst>
              <a:gd name="adj" fmla="val 6502"/>
            </a:avLst>
          </a:prstGeom>
          <a:solidFill>
            <a:srgbClr val="4E2160"/>
          </a:solidFill>
          <a:ln/>
        </p:spPr>
      </p:sp>
      <p:sp>
        <p:nvSpPr>
          <p:cNvPr id="3" name="Text 1"/>
          <p:cNvSpPr/>
          <p:nvPr/>
        </p:nvSpPr>
        <p:spPr>
          <a:xfrm>
            <a:off x="1209645" y="1374180"/>
            <a:ext cx="556236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AZERBAIJANI CUISINE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09645" y="1718869"/>
            <a:ext cx="4952777" cy="256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800" b="1" kern="100" spc="-48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My Favourite Food:</a:t>
            </a:r>
            <a:endParaRPr lang="en-US" sz="48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800" b="1" kern="100" spc="-48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Üç Bacı Dolması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09645" y="4511596"/>
            <a:ext cx="495277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simple introduction to Azerbaijani cuisine through one traditional stuffed-vegetable dish.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5479" y="5334000"/>
            <a:ext cx="2704933" cy="1114425"/>
          </a:xfrm>
          <a:prstGeom prst="roundRect">
            <a:avLst>
              <a:gd name="adj" fmla="val 2906"/>
            </a:avLst>
          </a:prstGeom>
          <a:solidFill>
            <a:srgbClr val="4E2160"/>
          </a:solidFill>
          <a:ln/>
        </p:spPr>
      </p:sp>
      <p:sp>
        <p:nvSpPr>
          <p:cNvPr id="7" name="Text 5"/>
          <p:cNvSpPr/>
          <p:nvPr/>
        </p:nvSpPr>
        <p:spPr>
          <a:xfrm>
            <a:off x="1003275" y="5461000"/>
            <a:ext cx="2349342" cy="83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750"/>
              </a:spcAft>
              <a:buNone/>
            </a:pPr>
            <a:r>
              <a:rPr lang="en-US" sz="17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Murad Rahimov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587-R1</a:t>
            </a:r>
            <a:endParaRPr lang="en-US" sz="17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AA9DE84-A374-49E1-5E24-32052FE8C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138" y="6568751"/>
            <a:ext cx="1153886" cy="2892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29643"/>
            <a:ext cx="37489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THE FOOD AROUND THE DISH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772694"/>
            <a:ext cx="3139401" cy="200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Azerbaijani Cuisine Is Rich and Regional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4012307"/>
            <a:ext cx="3139401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same ingredients can tell different stories in different parts of the country.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663264" y="0"/>
            <a:ext cx="2407880" cy="6858000"/>
          </a:xfrm>
          <a:prstGeom prst="roundRect">
            <a:avLst>
              <a:gd name="adj" fmla="val 11392"/>
            </a:avLst>
          </a:prstGeom>
          <a:solidFill>
            <a:srgbClr val="1F6B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858" y="228600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1858" y="803275"/>
            <a:ext cx="19506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Fresh and varied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91858" y="1611948"/>
            <a:ext cx="1950691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Vegetables, herbs, rice, meat, dairy products and spices all have a place.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223540" y="0"/>
            <a:ext cx="2407880" cy="6858000"/>
          </a:xfrm>
          <a:prstGeom prst="roundRect">
            <a:avLst>
              <a:gd name="adj" fmla="val 11392"/>
            </a:avLst>
          </a:prstGeom>
          <a:solidFill>
            <a:srgbClr val="7D5A1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134" y="228600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134" y="803275"/>
            <a:ext cx="19506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Regional character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452134" y="1611948"/>
            <a:ext cx="195069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Recipes change because climate and local farming are different.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783815" y="0"/>
            <a:ext cx="2407880" cy="6858000"/>
          </a:xfrm>
          <a:prstGeom prst="roundRect">
            <a:avLst>
              <a:gd name="adj" fmla="val 11392"/>
            </a:avLst>
          </a:prstGeom>
          <a:solidFill>
            <a:srgbClr val="9A3A3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410" y="228600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12410" y="803275"/>
            <a:ext cx="195069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Shared at home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0012410" y="1294448"/>
            <a:ext cx="195069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Meals connect with family, hospitality and celebrations.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85478"/>
            <a:ext cx="37489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A CUISINE WITH MANY ROOTS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628529"/>
            <a:ext cx="3139401" cy="250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Food History Comes from Many Influences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4369038"/>
            <a:ext cx="313940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Local products and contact between Europe and Asia helped shape the food people cook and share.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72849" y="2458839"/>
            <a:ext cx="6309262" cy="194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Azerbaijan lies between Europe and Asia, so its food has developed through contact between different cultures.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Traditional cooking grew from local agriculture, seasonal products and family recipes.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Food was cooked slowly in pots and shared at weddings, holidays and family gatherings.</a:t>
            </a:r>
            <a:endParaRPr lang="en-US" sz="17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6B8CBA-1AEA-134B-E045-6819A0F65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2353" y="6504972"/>
            <a:ext cx="1179515" cy="309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78496"/>
            <a:ext cx="414525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THE WORD BEHIND THE DISH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2121547"/>
            <a:ext cx="3535671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Dolma Means “Stuffed”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3356511"/>
            <a:ext cx="353567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BF1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word comes from the Turkic word “doldurma”, meaning “stuffed”.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443829"/>
            <a:ext cx="353567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DB6D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 Azerbaijan, dolma is a central culinary tradition and was added to UNESCO’s Intangible Cultural Heritage list in 2017.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118" y="2008738"/>
            <a:ext cx="59129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b="1" kern="100" spc="-15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Many forms, many fillings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118" y="2674045"/>
            <a:ext cx="2956446" cy="2183011"/>
          </a:xfrm>
          <a:custGeom>
            <a:avLst/>
            <a:gdLst/>
            <a:ahLst/>
            <a:cxnLst/>
            <a:rect l="l" t="t" r="r" b="b"/>
            <a:pathLst>
              <a:path w="2956446" h="2183011">
                <a:moveTo>
                  <a:pt x="228594" y="0"/>
                </a:moveTo>
                <a:lnTo>
                  <a:pt x="2956446" y="0"/>
                </a:lnTo>
                <a:lnTo>
                  <a:pt x="2956446" y="2183011"/>
                </a:lnTo>
                <a:lnTo>
                  <a:pt x="228594" y="2183011"/>
                </a:lnTo>
                <a:arcTo wR="228594" hR="228600" stAng="5400000" swAng="5400000"/>
                <a:lnTo>
                  <a:pt x="0" y="228600"/>
                </a:lnTo>
                <a:arcTo wR="228594" hR="228600" stAng="10800000" swAng="5400000"/>
                <a:close/>
              </a:path>
            </a:pathLst>
          </a:custGeom>
          <a:solidFill>
            <a:srgbClr val="1F6B66"/>
          </a:solidFill>
          <a:ln/>
        </p:spPr>
      </p:sp>
      <p:sp>
        <p:nvSpPr>
          <p:cNvPr id="8" name="Text 6"/>
          <p:cNvSpPr/>
          <p:nvPr/>
        </p:nvSpPr>
        <p:spPr>
          <a:xfrm>
            <a:off x="5897713" y="2918520"/>
            <a:ext cx="249925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Ways to make dolma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97713" y="3727192"/>
            <a:ext cx="249925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It can be made with grape leaves or vegetables.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25565" y="2674045"/>
            <a:ext cx="2956546" cy="2183011"/>
          </a:xfrm>
          <a:custGeom>
            <a:avLst/>
            <a:gdLst/>
            <a:ahLst/>
            <a:cxnLst/>
            <a:rect l="l" t="t" r="r" b="b"/>
            <a:pathLst>
              <a:path w="2956546" h="2183011">
                <a:moveTo>
                  <a:pt x="0" y="0"/>
                </a:moveTo>
                <a:lnTo>
                  <a:pt x="2727951" y="0"/>
                </a:lnTo>
                <a:arcTo wR="228594" hR="228600" stAng="16200000" swAng="5400000"/>
                <a:lnTo>
                  <a:pt x="2956546" y="1954411"/>
                </a:lnTo>
                <a:arcTo wR="228594" hR="228600" stAng="0" swAng="5400000"/>
                <a:lnTo>
                  <a:pt x="0" y="2183011"/>
                </a:lnTo>
                <a:lnTo>
                  <a:pt x="0" y="0"/>
                </a:lnTo>
                <a:close/>
              </a:path>
            </a:pathLst>
          </a:custGeom>
          <a:solidFill>
            <a:srgbClr val="7D5A1C"/>
          </a:solidFill>
          <a:ln/>
        </p:spPr>
      </p:sp>
      <p:sp>
        <p:nvSpPr>
          <p:cNvPr id="11" name="Text 9"/>
          <p:cNvSpPr/>
          <p:nvPr/>
        </p:nvSpPr>
        <p:spPr>
          <a:xfrm>
            <a:off x="8854159" y="2918520"/>
            <a:ext cx="24993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The filling may include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54159" y="3727192"/>
            <a:ext cx="249935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Meat, onion, rice and spices.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19215" y="2674045"/>
            <a:ext cx="12700" cy="2183011"/>
          </a:xfrm>
          <a:prstGeom prst="rect">
            <a:avLst/>
          </a:prstGeom>
          <a:solidFill>
            <a:srgbClr val="AD4F1C"/>
          </a:solidFill>
          <a:ln/>
        </p:spPr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0648385-0731-4BC0-26B7-FA1FF07DF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977" y="6459781"/>
            <a:ext cx="1517023" cy="3982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1264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ONE NAME, THREE VEGETABLES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38173"/>
            <a:ext cx="5516821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Üç Bacı Dolması: Three Vegetables, One Dish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2770981"/>
            <a:ext cx="2682213" cy="3477419"/>
          </a:xfrm>
          <a:prstGeom prst="roundRect">
            <a:avLst>
              <a:gd name="adj" fmla="val 10227"/>
            </a:avLst>
          </a:prstGeom>
          <a:solidFill>
            <a:srgbClr val="1F6B66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0" y="294878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6" name="Text 4"/>
          <p:cNvSpPr/>
          <p:nvPr/>
        </p:nvSpPr>
        <p:spPr>
          <a:xfrm>
            <a:off x="953865" y="3034506"/>
            <a:ext cx="7273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80" y="3466306"/>
            <a:ext cx="2275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Three sisters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780" y="3957479"/>
            <a:ext cx="2275823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“Üç bacı” means “three sisters”. It usually combines eggplant, tomato and bell pepper.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44194" y="2770981"/>
            <a:ext cx="2682213" cy="3477419"/>
          </a:xfrm>
          <a:prstGeom prst="roundRect">
            <a:avLst>
              <a:gd name="adj" fmla="val 10227"/>
            </a:avLst>
          </a:prstGeom>
          <a:solidFill>
            <a:srgbClr val="7D5A1C"/>
          </a:solidFill>
          <a:ln/>
        </p:spPr>
      </p:sp>
      <p:sp>
        <p:nvSpPr>
          <p:cNvPr id="10" name="Shape 8"/>
          <p:cNvSpPr/>
          <p:nvPr/>
        </p:nvSpPr>
        <p:spPr>
          <a:xfrm>
            <a:off x="3647388" y="294878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11" name="Text 9"/>
          <p:cNvSpPr/>
          <p:nvPr/>
        </p:nvSpPr>
        <p:spPr>
          <a:xfrm>
            <a:off x="3777659" y="3034506"/>
            <a:ext cx="749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47388" y="3466306"/>
            <a:ext cx="227582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One shared filling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47388" y="3957479"/>
            <a:ext cx="2275823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They are filled with a seasoned mixture, often including minced meat, onion, herbs and rice. Their flavours mix as they cook together.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40684" y="0"/>
            <a:ext cx="5151011" cy="6858000"/>
          </a:xfrm>
          <a:prstGeom prst="roundRect">
            <a:avLst>
              <a:gd name="adj" fmla="val 5325"/>
            </a:avLst>
          </a:prstGeom>
          <a:solidFill>
            <a:srgbClr val="5A2A6B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278" y="1519734"/>
            <a:ext cx="4693822" cy="38438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CDB6D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FROM PREPARATION TO PLATE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38173"/>
            <a:ext cx="10972526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kern="100" spc="-19" dirty="0">
                <a:solidFill>
                  <a:srgbClr val="FBF1E6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How It Is Prepared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1F6B66"/>
          </a:solidFill>
          <a:ln/>
        </p:spPr>
      </p:sp>
      <p:sp>
        <p:nvSpPr>
          <p:cNvPr id="5" name="Shape 3"/>
          <p:cNvSpPr/>
          <p:nvPr/>
        </p:nvSpPr>
        <p:spPr>
          <a:xfrm>
            <a:off x="787380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6" name="Text 4"/>
          <p:cNvSpPr/>
          <p:nvPr/>
        </p:nvSpPr>
        <p:spPr>
          <a:xfrm>
            <a:off x="928466" y="1972866"/>
            <a:ext cx="7273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7380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Wash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7380" y="2895838"/>
            <a:ext cx="227324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Wash the vegetables and make space for the filling.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90815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7D5A1C"/>
          </a:solidFill>
          <a:ln/>
        </p:spPr>
      </p:sp>
      <p:sp>
        <p:nvSpPr>
          <p:cNvPr id="10" name="Shape 8"/>
          <p:cNvSpPr/>
          <p:nvPr/>
        </p:nvSpPr>
        <p:spPr>
          <a:xfrm>
            <a:off x="3568611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11" name="Text 9"/>
          <p:cNvSpPr/>
          <p:nvPr/>
        </p:nvSpPr>
        <p:spPr>
          <a:xfrm>
            <a:off x="3698882" y="1972866"/>
            <a:ext cx="749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8611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Mix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8611" y="2895838"/>
            <a:ext cx="2273243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Prepare meat or vegetables with onion, herbs, rice and spices.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2046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9A3A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49841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80112" y="1972866"/>
            <a:ext cx="749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49841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Fill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9841" y="2895838"/>
            <a:ext cx="227324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Fill the eggplant, tomato and pepper.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53276" y="1709341"/>
            <a:ext cx="2628834" cy="4095849"/>
          </a:xfrm>
          <a:prstGeom prst="roundRect">
            <a:avLst>
              <a:gd name="adj" fmla="val 10435"/>
            </a:avLst>
          </a:prstGeom>
          <a:solidFill>
            <a:srgbClr val="1F6B66"/>
          </a:solidFill>
          <a:ln/>
        </p:spPr>
      </p:sp>
      <p:sp>
        <p:nvSpPr>
          <p:cNvPr id="20" name="Shape 18"/>
          <p:cNvSpPr/>
          <p:nvPr/>
        </p:nvSpPr>
        <p:spPr>
          <a:xfrm>
            <a:off x="9131072" y="1887141"/>
            <a:ext cx="400040" cy="400050"/>
          </a:xfrm>
          <a:prstGeom prst="ellipse">
            <a:avLst/>
          </a:prstGeom>
          <a:solidFill>
            <a:srgbClr val="AD4F1C"/>
          </a:solidFill>
          <a:ln/>
        </p:spPr>
      </p:sp>
      <p:sp>
        <p:nvSpPr>
          <p:cNvPr id="21" name="Text 19"/>
          <p:cNvSpPr/>
          <p:nvPr/>
        </p:nvSpPr>
        <p:spPr>
          <a:xfrm>
            <a:off x="9259557" y="1972866"/>
            <a:ext cx="7525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FBF1E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31072" y="2404666"/>
            <a:ext cx="227324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Cook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31072" y="2895838"/>
            <a:ext cx="227324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Cook slowly until soft and full of flavour.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09585" y="604204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DB6D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exact recipe can change from family to family.</a:t>
            </a:r>
            <a:endParaRPr lang="en-US" sz="13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CC1283F-96FC-25D0-C746-431C6C305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315" y="6404316"/>
            <a:ext cx="1523999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545</Words>
  <Application>Microsoft Office PowerPoint</Application>
  <PresentationFormat>Широкоэкранный</PresentationFormat>
  <Paragraphs>65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Golos Text Bold</vt:lpstr>
      <vt:lpstr>Comfortaa Bold</vt:lpstr>
      <vt:lpstr>Golos Text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Мурад Рагимов</cp:lastModifiedBy>
  <cp:revision>2</cp:revision>
  <dcterms:created xsi:type="dcterms:W3CDTF">2026-10-07T19:22:46Z</dcterms:created>
  <dcterms:modified xsi:type="dcterms:W3CDTF">2026-10-07T19:25:34Z</dcterms:modified>
</cp:coreProperties>
</file>