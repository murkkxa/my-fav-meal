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omfortaa Bold" panose="020B0604020202020204" charset="0"/>
      <p:regular r:id="rId9"/>
    </p:embeddedFont>
    <p:embeddedFont>
      <p:font typeface="Golos Text" panose="020B0604020202020204" charset="0"/>
      <p:regular r:id="rId10"/>
    </p:embeddedFont>
    <p:embeddedFont>
      <p:font typeface="Golos Text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971"/>
    <a:srgbClr val="5F4515"/>
    <a:srgbClr val="7D5A1C"/>
    <a:srgbClr val="582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69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dish as a personal favourite. Say that it gives us a simple way to enter Azerbaijani food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three tiles to show that cuisine is more than a list of ingredients. It also reflects place, agriculture and social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centre of the visual: Azerbaijan sits between Europe and Asia. Then connect the wider influences to local agriculture, seasonal products and family recipes.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word first, then show how broad the dish family is. Dolma may use leaves, vegetables or fruit, with different fillings.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name as a memorable image: three vegetables sharing one dish. Point out that the filling can vary, but the vegetables cook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through the four stages from left to right. Emphasize that slow cooking brings the vegetables and filling together, while families may change the exact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2">
                <a:lumMod val="50000"/>
              </a:schemeClr>
            </a:gs>
            <a:gs pos="0">
              <a:schemeClr val="accent2">
                <a:lumMod val="50000"/>
              </a:schemeClr>
            </a:gs>
            <a:gs pos="74000">
              <a:schemeClr val="accent4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8654" y="1043980"/>
            <a:ext cx="5852064" cy="4218781"/>
          </a:xfrm>
          <a:prstGeom prst="roundRect">
            <a:avLst>
              <a:gd name="adj" fmla="val 6502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1209645" y="1374180"/>
            <a:ext cx="55623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AZERBAIJANI CUISINE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09645" y="1752802"/>
            <a:ext cx="5333767" cy="256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b="1" kern="100" spc="-48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My Favorite Meal:</a:t>
            </a:r>
            <a:endParaRPr lang="en-US" sz="48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800" b="1" kern="100" spc="-48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Üç Bacı Dolması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09645" y="4511596"/>
            <a:ext cx="495277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simple introduction to Azerbaijani cuisine through one traditional stuffed-vegetable dish.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8654" y="5334000"/>
            <a:ext cx="2704933" cy="1114425"/>
          </a:xfrm>
          <a:prstGeom prst="roundRect">
            <a:avLst>
              <a:gd name="adj" fmla="val 2906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1003275" y="5461000"/>
            <a:ext cx="2349342" cy="83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750"/>
              </a:spcAft>
              <a:buNone/>
            </a:pPr>
            <a:r>
              <a:rPr lang="en-US" sz="17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Murad Rahimov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587-R1</a:t>
            </a:r>
            <a:endParaRPr lang="en-US" sz="17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A9DE84-A374-49E1-5E24-32052FE8C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138" y="6568751"/>
            <a:ext cx="1153886" cy="289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29643"/>
            <a:ext cx="37489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FOOD AROUND THE DISH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772694"/>
            <a:ext cx="3139401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Azerbaijani Cuisine Is Rich and Regional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4012307"/>
            <a:ext cx="3139401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same ingredients can tell different stories in different parts of the country.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264" y="0"/>
            <a:ext cx="2407880" cy="6858000"/>
          </a:xfrm>
          <a:prstGeom prst="roundRect">
            <a:avLst>
              <a:gd name="adj" fmla="val 11392"/>
            </a:avLst>
          </a:prstGeom>
          <a:solidFill>
            <a:srgbClr val="360971">
              <a:alpha val="68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58" y="228600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1858" y="803275"/>
            <a:ext cx="19506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Fresh and varied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91858" y="1611948"/>
            <a:ext cx="1950691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Vegetables, herbs, rice, meat, dairy products and spices all have a place.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223540" y="0"/>
            <a:ext cx="2407880" cy="6858000"/>
          </a:xfrm>
          <a:prstGeom prst="roundRect">
            <a:avLst>
              <a:gd name="adj" fmla="val 11392"/>
            </a:avLst>
          </a:prstGeom>
          <a:solidFill>
            <a:schemeClr val="accent6">
              <a:lumMod val="50000"/>
              <a:alpha val="68000"/>
            </a:scheme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134" y="228600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134" y="803275"/>
            <a:ext cx="19506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Regional character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52134" y="1611948"/>
            <a:ext cx="195069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Recipes change because climate and local farming are different.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783815" y="0"/>
            <a:ext cx="2407880" cy="6858000"/>
          </a:xfrm>
          <a:prstGeom prst="roundRect">
            <a:avLst>
              <a:gd name="adj" fmla="val 11392"/>
            </a:avLst>
          </a:prstGeom>
          <a:solidFill>
            <a:srgbClr val="C00000">
              <a:alpha val="48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410" y="228600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12410" y="803275"/>
            <a:ext cx="195069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Shared at home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0012410" y="1294448"/>
            <a:ext cx="195069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Meals connect with family, hospitality and celebrations.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85478"/>
            <a:ext cx="37489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 CUISINE WITH MANY ROOTS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628529"/>
            <a:ext cx="3139401" cy="250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Food History Comes from Many Influences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4369038"/>
            <a:ext cx="313940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Local products and contact between Europe and Asia helped shape the food people cook and share.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72849" y="2458839"/>
            <a:ext cx="6309262" cy="194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Azerbaijan lies between Europe and Asia, so its food has developed through contact between different cultures.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Traditional cooking grew from local agriculture, seasonal products and family recipes.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Food was cooked slowly in pots and shared at weddings, holidays and family gatherings.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09841"/>
            <a:ext cx="414525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WORD BEHIND THE DISH</a:t>
            </a:r>
            <a:endParaRPr lang="en-US" sz="1400" i="1" dirty="0"/>
          </a:p>
        </p:txBody>
      </p:sp>
      <p:sp>
        <p:nvSpPr>
          <p:cNvPr id="3" name="Text 1"/>
          <p:cNvSpPr/>
          <p:nvPr/>
        </p:nvSpPr>
        <p:spPr>
          <a:xfrm>
            <a:off x="609585" y="1214591"/>
            <a:ext cx="3535671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Dolma Means “Stuffed”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98" y="2290847"/>
            <a:ext cx="353567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word comes from the Turkic word “</a:t>
            </a:r>
            <a:r>
              <a:rPr lang="en-US" sz="2000" dirty="0" err="1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doldurma</a:t>
            </a: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”, meaning “stuffed”.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98" y="3429000"/>
            <a:ext cx="3535671" cy="118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13" dirty="0">
                <a:solidFill>
                  <a:schemeClr val="bg1">
                    <a:lumMod val="95000"/>
                  </a:scheme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 Azerbaijan, dolma is a central culinary tradition and was added to UNESCO’s Intangible Cultural Heritage list in 2017.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2719" y="1214591"/>
            <a:ext cx="59129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b="1" kern="100" spc="-15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Many forms and fillings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20609" y="2033965"/>
            <a:ext cx="2956446" cy="2183011"/>
          </a:xfrm>
          <a:custGeom>
            <a:avLst/>
            <a:gdLst/>
            <a:ahLst/>
            <a:cxnLst/>
            <a:rect l="l" t="t" r="r" b="b"/>
            <a:pathLst>
              <a:path w="2956446" h="2183011">
                <a:moveTo>
                  <a:pt x="228594" y="0"/>
                </a:moveTo>
                <a:lnTo>
                  <a:pt x="2956446" y="0"/>
                </a:lnTo>
                <a:lnTo>
                  <a:pt x="2956446" y="2183011"/>
                </a:lnTo>
                <a:lnTo>
                  <a:pt x="228594" y="2183011"/>
                </a:lnTo>
                <a:arcTo wR="228594" hR="228600" stAng="5400000" swAng="5400000"/>
                <a:lnTo>
                  <a:pt x="0" y="228600"/>
                </a:lnTo>
                <a:arcTo wR="228594" hR="228600" stAng="10800000" swAng="5400000"/>
                <a:close/>
              </a:path>
            </a:pathLst>
          </a:custGeom>
          <a:solidFill>
            <a:srgbClr val="360971">
              <a:alpha val="81000"/>
            </a:srgbClr>
          </a:solidFill>
          <a:ln/>
          <a:effectLst>
            <a:glow rad="355600">
              <a:srgbClr val="360971">
                <a:alpha val="21000"/>
              </a:srgbClr>
            </a:glow>
          </a:effectLst>
        </p:spPr>
      </p:sp>
      <p:sp>
        <p:nvSpPr>
          <p:cNvPr id="8" name="Text 6"/>
          <p:cNvSpPr/>
          <p:nvPr/>
        </p:nvSpPr>
        <p:spPr>
          <a:xfrm>
            <a:off x="5849204" y="2278440"/>
            <a:ext cx="249925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Ways to make dolma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49204" y="3087112"/>
            <a:ext cx="249925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It can be made with grape leaves or vegetables.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40505" y="2033964"/>
            <a:ext cx="2956546" cy="2183011"/>
          </a:xfrm>
          <a:custGeom>
            <a:avLst/>
            <a:gdLst/>
            <a:ahLst/>
            <a:cxnLst/>
            <a:rect l="l" t="t" r="r" b="b"/>
            <a:pathLst>
              <a:path w="2956546" h="2183011">
                <a:moveTo>
                  <a:pt x="0" y="0"/>
                </a:moveTo>
                <a:lnTo>
                  <a:pt x="2727951" y="0"/>
                </a:lnTo>
                <a:arcTo wR="228594" hR="228600" stAng="16200000" swAng="5400000"/>
                <a:lnTo>
                  <a:pt x="2956546" y="1954411"/>
                </a:lnTo>
                <a:arcTo wR="228594" hR="228600" stAng="0" swAng="5400000"/>
                <a:lnTo>
                  <a:pt x="0" y="218301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  <a:alpha val="84000"/>
            </a:schemeClr>
          </a:solidFill>
          <a:ln/>
          <a:effectLst>
            <a:glow rad="317500">
              <a:schemeClr val="accent6">
                <a:lumMod val="50000"/>
                <a:alpha val="28000"/>
              </a:schemeClr>
            </a:glow>
          </a:effectLst>
        </p:spPr>
      </p:sp>
      <p:sp>
        <p:nvSpPr>
          <p:cNvPr id="11" name="Text 9"/>
          <p:cNvSpPr/>
          <p:nvPr/>
        </p:nvSpPr>
        <p:spPr>
          <a:xfrm>
            <a:off x="8805650" y="2278440"/>
            <a:ext cx="24993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filling may include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05650" y="3087112"/>
            <a:ext cx="249935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Meat, onion, rice and spices.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02430" y="2033965"/>
            <a:ext cx="12700" cy="2183011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1659"/>
            <a:ext cx="61264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ONE NAME, THREE VEGETABLES</a:t>
            </a:r>
            <a:endParaRPr lang="en-US" sz="1400" i="1" dirty="0"/>
          </a:p>
        </p:txBody>
      </p:sp>
      <p:sp>
        <p:nvSpPr>
          <p:cNvPr id="3" name="Text 1"/>
          <p:cNvSpPr/>
          <p:nvPr/>
        </p:nvSpPr>
        <p:spPr>
          <a:xfrm>
            <a:off x="609585" y="938173"/>
            <a:ext cx="5516821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Üç Bacı Dolması: Three Vegetables, One Dish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770981"/>
            <a:ext cx="2682213" cy="3477419"/>
          </a:xfrm>
          <a:prstGeom prst="roundRect">
            <a:avLst>
              <a:gd name="adj" fmla="val 10227"/>
            </a:avLst>
          </a:prstGeom>
          <a:solidFill>
            <a:srgbClr val="360971">
              <a:alpha val="7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294878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6" name="Text 4"/>
          <p:cNvSpPr/>
          <p:nvPr/>
        </p:nvSpPr>
        <p:spPr>
          <a:xfrm>
            <a:off x="953865" y="3034506"/>
            <a:ext cx="727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80" y="3466306"/>
            <a:ext cx="2275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Three sisters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780" y="3957479"/>
            <a:ext cx="2275823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“Üç bacı” means “three sisters”. It usually combines eggplant, tomato and bell pepper.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44194" y="2770981"/>
            <a:ext cx="2682213" cy="3477419"/>
          </a:xfrm>
          <a:prstGeom prst="roundRect">
            <a:avLst>
              <a:gd name="adj" fmla="val 10227"/>
            </a:avLst>
          </a:prstGeom>
          <a:solidFill>
            <a:srgbClr val="C00000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47388" y="294878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1" name="Text 9"/>
          <p:cNvSpPr/>
          <p:nvPr/>
        </p:nvSpPr>
        <p:spPr>
          <a:xfrm>
            <a:off x="3777659" y="303450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47388" y="3466306"/>
            <a:ext cx="2275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One shared filling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7388" y="3957479"/>
            <a:ext cx="2275823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They are filled with a seasoned mixture, often including minced meat, onion, herbs and rice. Their flavours mix as they cook together.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40684" y="0"/>
            <a:ext cx="5151011" cy="6858000"/>
          </a:xfrm>
          <a:prstGeom prst="roundRect">
            <a:avLst>
              <a:gd name="adj" fmla="val 5325"/>
            </a:avLst>
          </a:prstGeom>
          <a:gradFill>
            <a:gsLst>
              <a:gs pos="100000">
                <a:srgbClr val="FFC000"/>
              </a:gs>
              <a:gs pos="49000">
                <a:schemeClr val="accent2">
                  <a:lumMod val="75000"/>
                </a:schemeClr>
              </a:gs>
              <a:gs pos="12000">
                <a:schemeClr val="accent2">
                  <a:lumMod val="50000"/>
                </a:schemeClr>
              </a:gs>
            </a:gsLst>
            <a:lin ang="5400000" scaled="1"/>
          </a:gradFill>
          <a:ln/>
          <a:effectLst>
            <a:glow rad="1079500">
              <a:schemeClr val="accent2">
                <a:lumMod val="50000"/>
                <a:alpha val="24000"/>
              </a:schemeClr>
            </a:glow>
          </a:effectLst>
        </p:spPr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D79C0C0-5379-1FD0-3851-F6B5A2281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284" y="1110456"/>
            <a:ext cx="5257800" cy="4305300"/>
          </a:xfrm>
          <a:prstGeom prst="rect">
            <a:avLst/>
          </a:prstGeom>
          <a:effectLst>
            <a:glow rad="990600">
              <a:srgbClr val="582808">
                <a:alpha val="11000"/>
              </a:srgbClr>
            </a:glo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38173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How It Is Prepared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360971">
              <a:alpha val="7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7380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6" name="Text 4"/>
          <p:cNvSpPr/>
          <p:nvPr/>
        </p:nvSpPr>
        <p:spPr>
          <a:xfrm>
            <a:off x="928466" y="1972866"/>
            <a:ext cx="727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7380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Wash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7380" y="2895838"/>
            <a:ext cx="227324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Wash the vegetables and make space for the filling.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90815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C00000">
              <a:alpha val="5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568611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1" name="Text 9"/>
          <p:cNvSpPr/>
          <p:nvPr/>
        </p:nvSpPr>
        <p:spPr>
          <a:xfrm>
            <a:off x="3698882" y="197286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8611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Mix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8611" y="2895838"/>
            <a:ext cx="2273243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Prepare meat or vegetables with onion, herbs, rice and spices.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2046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chemeClr val="accent6">
              <a:lumMod val="50000"/>
              <a:alpha val="73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49841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80112" y="197286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49841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Fill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9841" y="2895838"/>
            <a:ext cx="22732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Fill the eggplant, tomato and pepper.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53276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5F4515">
              <a:alpha val="63922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31072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59557" y="1972866"/>
            <a:ext cx="7525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31072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Cook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31072" y="2895838"/>
            <a:ext cx="22732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Cook slowly until soft and full of flavour.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09585" y="604204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chemeClr val="bg1">
                    <a:lumMod val="95000"/>
                  </a:scheme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exact recipe can change from family to family.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540</Words>
  <Application>Microsoft Office PowerPoint</Application>
  <PresentationFormat>Широкоэкранный</PresentationFormat>
  <Paragraphs>64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Comfortaa Bold</vt:lpstr>
      <vt:lpstr>Golos Text</vt:lpstr>
      <vt:lpstr>Golos Text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Мурад Рагимов</cp:lastModifiedBy>
  <cp:revision>6</cp:revision>
  <dcterms:created xsi:type="dcterms:W3CDTF">2026-10-07T19:22:46Z</dcterms:created>
  <dcterms:modified xsi:type="dcterms:W3CDTF">2026-10-08T07:05:22Z</dcterms:modified>
</cp:coreProperties>
</file>